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AI in Food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3464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Critical Evaluation and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862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Evaluative Research Report | YUVA Intern Week 4 | 20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YUVA Intern –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AI is moving from pilot projects toward broader use in food processing and food safety.</a:t>
            </a:r>
          </a:p>
          <a:p>
            <a:pPr>
              <a:spcAft>
                <a:spcPts val="1000"/>
              </a:spcAft>
              <a:defRPr sz="2000"/>
            </a:pPr>
            <a:r>
              <a:t>Key applications include inspection, predictive maintenance, process optimisation, forecasting and product development.</a:t>
            </a:r>
          </a:p>
          <a:p>
            <a:pPr>
              <a:spcAft>
                <a:spcPts val="1000"/>
              </a:spcAft>
              <a:defRPr sz="2000"/>
            </a:pPr>
            <a:r>
              <a:t>AI can improve consistency, detect risks earlier and reduce resource waste.</a:t>
            </a:r>
          </a:p>
          <a:p>
            <a:pPr>
              <a:spcAft>
                <a:spcPts val="1000"/>
              </a:spcAft>
              <a:defRPr sz="2000"/>
            </a:pPr>
            <a:r>
              <a:t>Industrial success depends on data quality, validation, integration, cybersecurity and human oversight.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YUVA Intern – Week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Current Applications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Computer vision: defect detection, sorting, grading and packaging inspection.</a:t>
            </a:r>
          </a:p>
          <a:p>
            <a:pPr>
              <a:spcAft>
                <a:spcPts val="1000"/>
              </a:spcAft>
              <a:defRPr sz="1800"/>
            </a:pPr>
            <a:r>
              <a:t>Predictive maintenance: identifying equipment conditions linked to possible failures.</a:t>
            </a:r>
          </a:p>
          <a:p>
            <a:pPr>
              <a:spcAft>
                <a:spcPts val="1000"/>
              </a:spcAft>
              <a:defRPr sz="1800"/>
            </a:pPr>
            <a:r>
              <a:t>Process optimisation: improving drying, frying, baking, mixing and thermal processing.</a:t>
            </a:r>
          </a:p>
          <a:p>
            <a:pPr>
              <a:spcAft>
                <a:spcPts val="1000"/>
              </a:spcAft>
              <a:defRPr sz="1800"/>
            </a:pPr>
            <a:r>
              <a:t>Food-safety analytics: prioritising hazards and supporting inspection decisions.</a:t>
            </a:r>
          </a:p>
          <a:p>
            <a:pPr>
              <a:spcAft>
                <a:spcPts val="1000"/>
              </a:spcAft>
              <a:defRPr sz="1800"/>
            </a:pPr>
            <a:r>
              <a:t>Demand forecasting and product development: planning inventory, recipes and sensory outcomes.</a:t>
            </a:r>
          </a:p>
          <a:p>
            <a:pPr>
              <a:spcAft>
                <a:spcPts val="1000"/>
              </a:spcAft>
              <a:defRPr sz="1800"/>
            </a:pPr>
            <a:r>
              <a:t>Energy, water and waste optimisation: improving resource-intensive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YUVA Intern – Week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Critical Evaluation: Benefits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Benefits</a:t>
            </a:r>
          </a:p>
          <a:p>
            <a:pPr lvl="1">
              <a:spcAft>
                <a:spcPts val="1000"/>
              </a:spcAft>
              <a:defRPr sz="1400"/>
            </a:pPr>
            <a:r>
              <a:t>Consistent inspection and process monitoring</a:t>
            </a:r>
          </a:p>
          <a:p>
            <a:pPr lvl="1">
              <a:spcAft>
                <a:spcPts val="1000"/>
              </a:spcAft>
              <a:defRPr sz="1400"/>
            </a:pPr>
            <a:r>
              <a:t>Earlier detection of equipment or quality problems</a:t>
            </a:r>
          </a:p>
          <a:p>
            <a:pPr lvl="1">
              <a:spcAft>
                <a:spcPts val="1000"/>
              </a:spcAft>
              <a:defRPr sz="1400"/>
            </a:pPr>
            <a:r>
              <a:t>Improved efficiency, traceability and planning</a:t>
            </a:r>
          </a:p>
          <a:p>
            <a:pPr lvl="1">
              <a:spcAft>
                <a:spcPts val="1000"/>
              </a:spcAft>
              <a:defRPr sz="1400"/>
            </a:pPr>
            <a:r>
              <a:t>Potential reductions in waste, energy and water use</a:t>
            </a:r>
          </a:p>
          <a:p>
            <a:pPr>
              <a:spcAft>
                <a:spcPts val="1000"/>
              </a:spcAft>
              <a:defRPr sz="1700"/>
            </a:pPr>
            <a:r>
              <a:t>Limitations</a:t>
            </a:r>
          </a:p>
          <a:p>
            <a:pPr lvl="1">
              <a:spcAft>
                <a:spcPts val="1000"/>
              </a:spcAft>
              <a:defRPr sz="1400"/>
            </a:pPr>
            <a:r>
              <a:t>Performance can fall when products, lighting, seasons or suppliers change</a:t>
            </a:r>
          </a:p>
          <a:p>
            <a:pPr lvl="1">
              <a:spcAft>
                <a:spcPts val="1000"/>
              </a:spcAft>
              <a:defRPr sz="1400"/>
            </a:pPr>
            <a:r>
              <a:t>High-quality data and historical failure records are essential</a:t>
            </a:r>
          </a:p>
          <a:p>
            <a:pPr lvl="1">
              <a:spcAft>
                <a:spcPts val="1000"/>
              </a:spcAft>
              <a:defRPr sz="1400"/>
            </a:pPr>
            <a:r>
              <a:t>Accuracy alone does not guarantee business or food-safety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YUVA Intern – Week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Challenges in Scaling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Disconnected sensors, missing labels and inconsistent data formats.</a:t>
            </a:r>
          </a:p>
          <a:p>
            <a:pPr>
              <a:spcAft>
                <a:spcPts val="1000"/>
              </a:spcAft>
              <a:defRPr sz="1800"/>
            </a:pPr>
            <a:r>
              <a:t>Model drift caused by changing raw materials and operating conditions.</a:t>
            </a:r>
          </a:p>
          <a:p>
            <a:pPr>
              <a:spcAft>
                <a:spcPts val="1000"/>
              </a:spcAft>
              <a:defRPr sz="1800"/>
            </a:pPr>
            <a:r>
              <a:t>Legacy equipment with limited digital connectivity.</a:t>
            </a:r>
          </a:p>
          <a:p>
            <a:pPr>
              <a:spcAft>
                <a:spcPts val="1000"/>
              </a:spcAft>
              <a:defRPr sz="1800"/>
            </a:pPr>
            <a:r>
              <a:t>Validation requirements for safety-critical decisions.</a:t>
            </a:r>
          </a:p>
          <a:p>
            <a:pPr>
              <a:spcAft>
                <a:spcPts val="1000"/>
              </a:spcAft>
              <a:defRPr sz="1800"/>
            </a:pPr>
            <a:r>
              <a:t>Costs of sensors, integration, computing, maintenance and retraining.</a:t>
            </a:r>
          </a:p>
          <a:p>
            <a:pPr>
              <a:spcAft>
                <a:spcPts val="1000"/>
              </a:spcAft>
              <a:defRPr sz="1800"/>
            </a:pPr>
            <a:r>
              <a:t>Skills gaps between food technologists, engineers and data teams.</a:t>
            </a:r>
          </a:p>
          <a:p>
            <a:pPr>
              <a:spcAft>
                <a:spcPts val="1000"/>
              </a:spcAft>
              <a:defRPr sz="1800"/>
            </a:pPr>
            <a:r>
              <a:t>Governance issues involving ownership, privacy, cybersecurity and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YUVA Intern – Week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Governance, Safety and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AI should support—not replace—validated food-safety controls and expert judgment.</a:t>
            </a:r>
          </a:p>
          <a:p>
            <a:pPr>
              <a:spcAft>
                <a:spcPts val="1000"/>
              </a:spcAft>
              <a:defRPr sz="1800"/>
            </a:pPr>
            <a:r>
              <a:t>Safety-critical systems require traceability, documentation, human escalation and oversight.</a:t>
            </a:r>
          </a:p>
          <a:p>
            <a:pPr>
              <a:spcAft>
                <a:spcPts val="1000"/>
              </a:spcAft>
              <a:defRPr sz="1800"/>
            </a:pPr>
            <a:r>
              <a:t>Risk management should address validity, reliability, security, transparency, privacy and accountability.</a:t>
            </a:r>
          </a:p>
          <a:p>
            <a:pPr>
              <a:spcAft>
                <a:spcPts val="1000"/>
              </a:spcAft>
              <a:defRPr sz="1800"/>
            </a:pPr>
            <a:r>
              <a:t>Evaluate total cost of ownership, not only software purchase price.</a:t>
            </a:r>
          </a:p>
          <a:p>
            <a:pPr>
              <a:spcAft>
                <a:spcPts val="1000"/>
              </a:spcAft>
              <a:defRPr sz="1800"/>
            </a:pPr>
            <a:r>
              <a:t>Measure baseline-versus-AI outcomes such as downtime, reject rates, yield, energy use and quality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YUVA Intern – Week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Innovation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Multimodal AI combining images, sensors, process logs, laboratory data and maintenance records.</a:t>
            </a:r>
          </a:p>
          <a:p>
            <a:pPr>
              <a:spcAft>
                <a:spcPts val="1000"/>
              </a:spcAft>
              <a:defRPr sz="1700"/>
            </a:pPr>
            <a:r>
              <a:t>Digital twins for testing process changes before physical implementation.</a:t>
            </a:r>
          </a:p>
          <a:p>
            <a:pPr>
              <a:spcAft>
                <a:spcPts val="1000"/>
              </a:spcAft>
              <a:defRPr sz="1700"/>
            </a:pPr>
            <a:r>
              <a:t>Physics-informed and hybrid AI for greater robustness and interpretability.</a:t>
            </a:r>
          </a:p>
          <a:p>
            <a:pPr>
              <a:spcAft>
                <a:spcPts val="1000"/>
              </a:spcAft>
              <a:defRPr sz="1700"/>
            </a:pPr>
            <a:r>
              <a:t>Edge AI for low-latency decisions near production equipment.</a:t>
            </a:r>
          </a:p>
          <a:p>
            <a:pPr>
              <a:spcAft>
                <a:spcPts val="1000"/>
              </a:spcAft>
              <a:defRPr sz="1700"/>
            </a:pPr>
            <a:r>
              <a:t>Explainable AI that provides evidence, confidence and contributing signals.</a:t>
            </a:r>
          </a:p>
          <a:p>
            <a:pPr>
              <a:spcAft>
                <a:spcPts val="1000"/>
              </a:spcAft>
              <a:defRPr sz="1700"/>
            </a:pPr>
            <a:r>
              <a:t>Privacy-preserving collaboration, adaptive robotics and joint sustainability optimisation.</a:t>
            </a:r>
          </a:p>
          <a:p>
            <a:pPr>
              <a:spcAft>
                <a:spcPts val="1000"/>
              </a:spcAft>
              <a:defRPr sz="1700"/>
            </a:pPr>
            <a:r>
              <a:t>Controlled generative AI for procedures, training and documentation—with human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YUVA Intern – Week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Recommended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1. Select: choose one measurable problem with a clear owner and baseline KPI.</a:t>
            </a:r>
          </a:p>
          <a:p>
            <a:pPr>
              <a:spcAft>
                <a:spcPts val="1000"/>
              </a:spcAft>
              <a:defRPr sz="1900"/>
            </a:pPr>
            <a:r>
              <a:t>2. Prepare: standardise data, instrument the process and define access controls.</a:t>
            </a:r>
          </a:p>
          <a:p>
            <a:pPr>
              <a:spcAft>
                <a:spcPts val="1000"/>
              </a:spcAft>
              <a:defRPr sz="1900"/>
            </a:pPr>
            <a:r>
              <a:t>3. Pilot: run AI alongside the existing process and test edge cases.</a:t>
            </a:r>
          </a:p>
          <a:p>
            <a:pPr>
              <a:spcAft>
                <a:spcPts val="1000"/>
              </a:spcAft>
              <a:defRPr sz="1900"/>
            </a:pPr>
            <a:r>
              <a:t>4. Validate: assess technical, operational, economic and food-safety performance.</a:t>
            </a:r>
          </a:p>
          <a:p>
            <a:pPr>
              <a:spcAft>
                <a:spcPts val="1000"/>
              </a:spcAft>
              <a:defRPr sz="1900"/>
            </a:pPr>
            <a:r>
              <a:t>5. Scale: expand only after successful validation and documented safeguards.</a:t>
            </a:r>
          </a:p>
          <a:p>
            <a:pPr>
              <a:spcAft>
                <a:spcPts val="1000"/>
              </a:spcAft>
              <a:defRPr sz="1900"/>
            </a:pPr>
            <a:r>
              <a:t>6. Improve: monitor drift, retrain models and review business value continuously.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YUVA Intern – Week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AI already offers practical value in inspection, maintenance, optimisation, safety analytics and resource management.</a:t>
            </a:r>
          </a:p>
          <a:p>
            <a:pPr>
              <a:spcAft>
                <a:spcPts val="1000"/>
              </a:spcAft>
              <a:defRPr sz="2000"/>
            </a:pPr>
            <a:r>
              <a:t>It is not a universal replacement for process expertise or established food-safety controls.</a:t>
            </a:r>
          </a:p>
          <a:p>
            <a:pPr>
              <a:spcAft>
                <a:spcPts val="1000"/>
              </a:spcAft>
              <a:defRPr sz="2000"/>
            </a:pPr>
            <a:r>
              <a:t>Reliable scale-up requires better data, secure integration, strong validation, human oversight and clear KPIs.</a:t>
            </a:r>
          </a:p>
          <a:p>
            <a:pPr>
              <a:spcAft>
                <a:spcPts val="1000"/>
              </a:spcAft>
              <a:defRPr sz="2000"/>
            </a:pPr>
            <a:r>
              <a:t>The future of food processing AI is likely to be safer, more explainable, more connected and more resource-efficient.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Source: AI in Food Processing — Critical Evaluation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